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7" r:id="rId7"/>
    <p:sldId id="276" r:id="rId8"/>
    <p:sldId id="275" r:id="rId9"/>
    <p:sldId id="27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8" r:id="rId20"/>
    <p:sldId id="271" r:id="rId21"/>
    <p:sldId id="272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077A5B-8C0D-40D8-8557-44EC33DBB8F6}">
  <a:tblStyle styleId="{98077A5B-8C0D-40D8-8557-44EC33DBB8F6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0" name="Google Shape;420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1" name="Google Shape;421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3" name="Google Shape;423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4" name="Google Shape;424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ae31baec559f25e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g5ae31baec559f25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  <a:def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6" name="Google Shape;45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57" name="Google Shape;45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3" name="Google Shape;46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4" name="Google Shape;46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5" name="Google Shape;46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6" name="Google Shape;46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77" name="Google Shape;47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78" name="Google Shape;47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85" name="Google Shape;48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11"/>
          <p:cNvSpPr txBox="1">
            <a:spLocks noGrp="1"/>
          </p:cNvSpPr>
          <p:nvPr>
            <p:ph type="body" idx="1"/>
          </p:nvPr>
        </p:nvSpPr>
        <p:spPr>
          <a:xfrm rot="5400000">
            <a:off x="1981200" y="-457200"/>
            <a:ext cx="5181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1" name="Google Shape;49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"/>
          <p:cNvSpPr txBox="1">
            <a:spLocks noGrp="1"/>
          </p:cNvSpPr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2"/>
          <p:cNvSpPr txBox="1">
            <a:spLocks noGrp="1"/>
          </p:cNvSpPr>
          <p:nvPr>
            <p:ph type="body" idx="1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7" name="Google Shape;49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7" name="Google Shape;427;p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8" name="Google Shape;42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9" name="Google Shape;42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0" name="Google Shape;43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504;p13"/>
          <p:cNvGraphicFramePr/>
          <p:nvPr>
            <p:extLst>
              <p:ext uri="{D42A27DB-BD31-4B8C-83A1-F6EECF244321}">
                <p14:modId xmlns:p14="http://schemas.microsoft.com/office/powerpoint/2010/main" val="231531144"/>
              </p:ext>
            </p:extLst>
          </p:nvPr>
        </p:nvGraphicFramePr>
        <p:xfrm>
          <a:off x="252237" y="301887"/>
          <a:ext cx="8639525" cy="5765675"/>
        </p:xfrm>
        <a:graphic>
          <a:graphicData uri="http://schemas.openxmlformats.org/drawingml/2006/table">
            <a:tbl>
              <a:tblPr firstRow="1" bandRow="1">
                <a:noFill/>
                <a:tableStyleId>{98077A5B-8C0D-40D8-8557-44EC33DBB8F6}</a:tableStyleId>
              </a:tblPr>
              <a:tblGrid>
                <a:gridCol w="147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>
                          <a:solidFill>
                            <a:schemeClr val="lt1"/>
                          </a:solidFill>
                        </a:rPr>
                        <a:t>S.S.V.P.S’s B. S. Deore Polytechnic, Dhule</a:t>
                      </a:r>
                      <a:endParaRPr sz="2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00"/>
                        <a:buFont typeface="Times New Roman"/>
                        <a:buNone/>
                      </a:pPr>
                      <a:r>
                        <a:rPr lang="en-US" sz="3200" u="none" strike="noStrike" cap="none">
                          <a:solidFill>
                            <a:schemeClr val="lt1"/>
                          </a:solidFill>
                        </a:rPr>
                        <a:t>Department of Computer Engineering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0" i="1" u="none" strike="noStrike" cap="none">
                          <a:solidFill>
                            <a:schemeClr val="lt1"/>
                          </a:solidFill>
                        </a:rPr>
                        <a:t>Academic Year : </a:t>
                      </a:r>
                      <a:r>
                        <a:rPr lang="en-US" sz="3200" b="0" i="1"/>
                        <a:t>2026-2027</a:t>
                      </a:r>
                      <a:endParaRPr sz="3200" b="0" i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225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SEMINAR AND PROJECT INITIATION COURSE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0000"/>
                          </a:solidFill>
                        </a:rPr>
                        <a:t>Sem : CO 5 K</a:t>
                      </a:r>
                      <a:endParaRPr sz="21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SPI – 315003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100"/>
                        <a:buFont typeface="Times New Roman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0000"/>
                          </a:solidFill>
                        </a:rPr>
                        <a:t>Date  : 17-10-2026</a:t>
                      </a:r>
                      <a:endParaRPr sz="21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50"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chemeClr val="dk2"/>
                          </a:solidFill>
                        </a:rPr>
                        <a:t>Topic : IoT in Smart Homes</a:t>
                      </a:r>
                      <a:endParaRPr sz="2400" b="1" u="none" strike="noStrike" cap="none" dirty="0">
                        <a:solidFill>
                          <a:srgbClr val="0070C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Roll No.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 b="1" u="none" strike="noStrike" cap="none" dirty="0"/>
                        <a:t>Name of Student</a:t>
                      </a:r>
                      <a:endParaRPr sz="2400" b="1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20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Snehal Manoj Chaudhari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21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Ragini </a:t>
                      </a:r>
                      <a:r>
                        <a:rPr lang="en-US" sz="2400" dirty="0" err="1"/>
                        <a:t>Devendrasingh</a:t>
                      </a:r>
                      <a:r>
                        <a:rPr lang="en-US" sz="2400" dirty="0"/>
                        <a:t> Chauhan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sz="2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Hemangi Sujit Patil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5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sz="22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Janhavi </a:t>
                      </a:r>
                      <a:r>
                        <a:rPr lang="en-US" sz="2400" dirty="0" err="1"/>
                        <a:t>Dagaji</a:t>
                      </a:r>
                      <a:r>
                        <a:rPr lang="en-US" sz="2400" dirty="0"/>
                        <a:t> Patil</a:t>
                      </a:r>
                      <a:endParaRPr sz="24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05" name="Google Shape;505;p13" descr="ssvps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57200"/>
            <a:ext cx="1219200" cy="1627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514350" lvl="0" indent="-4838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Certificate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Abstract 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Introduction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Literature Review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Information to Seminar topic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Advantages and Disadvantages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Conclusion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Project Initiation : </a:t>
            </a:r>
            <a:endParaRPr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/>
              <a:t>6. 1 Description of problem statement.</a:t>
            </a:r>
            <a:endParaRPr sz="280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/>
              <a:t>6. 2 Scope and objectives.</a:t>
            </a:r>
            <a:endParaRPr sz="280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/>
              <a:t>6. 3 Stake holder</a:t>
            </a:r>
            <a:endParaRPr sz="280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/>
              <a:t>6. 4 Seminar execution plan</a:t>
            </a:r>
            <a:endParaRPr sz="2800"/>
          </a:p>
          <a:p>
            <a:pPr marL="742950" lvl="0" indent="0" algn="l" rtl="0"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800"/>
              <a:t>6.5 Platform/ Equipment/ Resources identification.</a:t>
            </a:r>
            <a:endParaRPr sz="2800"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Bibliography</a:t>
            </a:r>
            <a:endParaRPr/>
          </a:p>
          <a:p>
            <a:pPr marL="514350" lvl="0" indent="-48387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en-US"/>
              <a:t>References</a:t>
            </a: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511" name="Google Shape;51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Contents</a:t>
            </a:r>
            <a:endParaRPr/>
          </a:p>
        </p:txBody>
      </p:sp>
      <p:sp>
        <p:nvSpPr>
          <p:cNvPr id="512" name="Google Shape;512;p1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Abstract</a:t>
            </a:r>
            <a:endParaRPr/>
          </a:p>
        </p:txBody>
      </p:sp>
      <p:sp>
        <p:nvSpPr>
          <p:cNvPr id="518" name="Google Shape;518;p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300" b="0"/>
              <a:t>IoT connects home sensors, appliances and controllers so they can sense, communicate and act automatically</a:t>
            </a:r>
          </a:p>
          <a:p>
            <a:r>
              <a:rPr sz="2300" b="0"/>
              <a:t>Seminar covers architecture, devices, protocols and applications</a:t>
            </a:r>
          </a:p>
          <a:p>
            <a:r>
              <a:rPr sz="2300" b="0"/>
              <a:t>Main open problems: security, privacy and interoperability between vendors</a:t>
            </a:r>
          </a:p>
          <a:p>
            <a:r>
              <a:rPr sz="2300" b="0"/>
              <a:t>Matter standard unifies devices over Wi-Fi and Thread</a:t>
            </a:r>
          </a:p>
          <a:p>
            <a:r>
              <a:rPr sz="2300" b="0"/>
              <a:t>Ends with a project initiation plan for a local, low-cost smart home</a:t>
            </a:r>
          </a:p>
          <a:p>
            <a:r>
              <a:rPr sz="2300" b="1"/>
              <a:t>Keywords: IoT, smart home, Matter, Zigbee, security</a:t>
            </a:r>
          </a:p>
        </p:txBody>
      </p:sp>
      <p:sp>
        <p:nvSpPr>
          <p:cNvPr id="519" name="Google Shape;519;p1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1. Introduction</a:t>
            </a:r>
            <a:endParaRPr/>
          </a:p>
        </p:txBody>
      </p:sp>
      <p:sp>
        <p:nvSpPr>
          <p:cNvPr id="525" name="Google Shape;525;p1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100" b="0"/>
              <a:t>Smart home: lights, locks, cameras, thermostats and appliances connected to a network</a:t>
            </a:r>
          </a:p>
          <a:p>
            <a:r>
              <a:rPr sz="2100" b="0"/>
              <a:t>IoT: small devices with sensors, a processor and a network link that exchange data</a:t>
            </a:r>
          </a:p>
          <a:p>
            <a:r>
              <a:rPr sz="2100" b="1"/>
              <a:t>How it works</a:t>
            </a:r>
          </a:p>
          <a:p>
            <a:pPr lvl="1"/>
            <a:r>
              <a:rPr sz="1900" b="0"/>
              <a:t>Sensors collect data (temperature, motion, door, power)</a:t>
            </a:r>
          </a:p>
          <a:p>
            <a:pPr lvl="1"/>
            <a:r>
              <a:rPr sz="1900" b="0"/>
              <a:t>Hub or router carries it over Wi-Fi, Bluetooth, Zigbee, Z-Wave or Thread</a:t>
            </a:r>
          </a:p>
          <a:p>
            <a:pPr lvl="1"/>
            <a:r>
              <a:rPr sz="1900" b="0"/>
              <a:t>Software applies rules in the cloud or locally</a:t>
            </a:r>
          </a:p>
          <a:p>
            <a:pPr lvl="1"/>
            <a:r>
              <a:rPr sz="1900" b="0"/>
              <a:t>Actuators act: lights, locks, thermostat; user controls it from an app</a:t>
            </a:r>
          </a:p>
          <a:p>
            <a:r>
              <a:rPr sz="2100" b="0"/>
              <a:t>Why it matters: homes are where most people meet IoT, early devices had weak security, brands often do not interoperate</a:t>
            </a:r>
          </a:p>
        </p:txBody>
      </p:sp>
      <p:sp>
        <p:nvSpPr>
          <p:cNvPr id="526" name="Google Shape;526;p1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2. Literature Survey (1/4)</a:t>
            </a:r>
            <a:endParaRPr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457200" y="1143000"/>
          <a:ext cx="8229599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Sr. No.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Approach Type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Technology Used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Dataset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Key Objective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Limitations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1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Introductory IoT guide (Ananna &amp; Saifuzzaman, 2023)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Sensors, network, cloud and apps (general IoT architecture)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None; a survey-style guide, no experimental dataset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explain IoT from scratch for beginners.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Names security and privacy as the big open problems; no system is built or tested.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2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Low-cost smart home automation (Stolojescu-Crisan et al., 2021)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Bluetooth, Zigbee and Wi-Fi compared; phone app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Sensor and control data from a small home prototype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compare Bluetooth, Zigbee and Wi-Fi and build a low-cost smart home controlled from a phone app.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Small home prototype; security and interoperability between brands are not the focus.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3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Smart home monitoring with Android app (Akter et al., 2023)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Sensors, microcontroller, Wi-Fi, Android app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Sensor readings from the prototype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monitor and automate a home, showing status and alerts in a mobile app.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Depends on Wi-Fi and a phone app; no local dashboard or offline operation.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2. Literature Survey (2/4)</a:t>
            </a:r>
            <a:endParaRPr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457200" y="1143000"/>
          <a:ext cx="8229599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Sr. No.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Approach Type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Technology Used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Dataset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Key Objective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Limitations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4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Wi-Fi based home automation (Sachdeva, 2018)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NodeMCU, relays, Wi-Fi (Bluetooth and Zigbee compared)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Switching and control data from the prototype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switch home devices cheaply through relays using NodeMCU and Wi-Fi.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Basic on/off control over Wi-Fi; limited security and automation rules.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5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Comparative literature survey of 20 IoT smart home works (Kaur et al., n.d.)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Arduino, Raspberry Pi, ESP8266, ZigBee, Wi-Fi, GSM; web and mobile apps (Blynk)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None; compares earlier studies in two tables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compare IoT smart home systems by issue addressed, merit, demerit, communication, controller, storage and tools.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Review only; no system is built; many compared works list no demerits; mostly Wi-Fi and Arduino based.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6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Voice and web controlled home automation (Nadgaundi et al., 2020)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PIC16F877A, GSM SIM900A, Bluetooth HC-05, PHP and MySQL web page, SS Voice Android app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None; sensor status (LPG, PIR, IR, water level) logged online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build a low-cost system with voice and website control plus gas, burglar and water-level safety, helpful for elderly and disabled users.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Semi-automated, needs a user command; Bluetooth works only in offline mode; only eight fixed voice commands.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2. Literature Survey (3/4)</a:t>
            </a:r>
            <a:endParaRPr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457200" y="1143000"/>
          <a:ext cx="8229599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Sr. No.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Approach Type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Technology Used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Dataset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Key Objective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Limitations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7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Smart home automation system based on IoT (Kadiyan et al., 2023)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ESP32 NodeMCU, four relays, Blynk app, Wi-Fi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None; proposed architecture and block diagram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propose a scalable architecture for remote control, monitoring and rule-based automation of lights and a fan.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Largely conceptual; no test results; security (TLS, OAuth) is described but not implemented.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8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IoT smart fire and gas safety system for rural homes (Sharma et al., 2026)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ESP32, MQ2, MQ5, DHT11, buzzer, Blynk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Readings from a controlled kitchen test; no public dataset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give low-cost real-time smoke and LPG leak alerts; buzzer in about 2.4 s, phone alert in about 3.5 s, 0.5 to 1 W power.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Tested only in a controlled kitchen; MQ sensors are cross-sensitive and need warm-up; DHT11 is low precision; remote alerts need Wi-Fi.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9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Impact of IoT on smart home energy management (Kumar &amp; Pandey, 2023)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Smart meters, thermostats, smart appliances; Python analysis; Homergy box (Arduino Mega, NodeMCU, relays)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Assumed CSV of home energy use before and after IoT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study how IoT monitoring and automation reduce energy use and cost; reports 500 to 400 kWh per month (20%).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Dataset is assumed, so results are illustrative; privacy, security and interoperability remain open.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2. Literature Survey (4/4)</a:t>
            </a:r>
            <a:endParaRPr/>
          </a:p>
        </p:txBody>
      </p:sp>
      <p:sp>
        <p:nvSpPr>
          <p:cNvPr id="533" name="Google Shape;533;p1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457200" y="1143000"/>
          <a:ext cx="8229599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300" b="1"/>
                        <a:t>Sr. No.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Approach Type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Technology Used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Dataset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Key Objective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/>
                        <a:t>Limitations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10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Home automation using ThingSpeak (Akhtar et al., 2019)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Arduino UNO, Raspberry Pi 3, ThingSpeak cloud, Android app, PIR, LDR, soil moisture sensor, servo lock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ThingSpeak logs and monthly kWh readings, January to May 2019, with and without the system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control lights, fans, sprinkler and door lock remotely and monitor energy use; energy use was lower with the system.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Needs continuous power and internet; no battery backup; depends on the ThingSpeak cloud.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11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Smart Home Switch System using IoT (Ab Rahim &amp; Yahaya, 2023)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ESP32, ACS712 current sensor, DHT11, 8-channel relay, Blynk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None; live current, power, temperature and humidity readings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control four loads from a phone and monitor current, power and room conditions.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Power is estimated assuming a constant 240 V supply; DHT11 is low precision; cloud and Wi-Fi dependent; no quantified results.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ctr"/>
                      <a:r>
                        <a:rPr lang="en-US" sz="1300" b="0"/>
                        <a:t>12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Blynk framework for smart home (Media's et al., 2019)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Raspberry Pi as server, NodeMCU clients, DHT11, relay, Blynk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None; prototype with event logs stored on the Raspberry Pi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To retrofit an existing house cheaply with wireless nodes and no rewiring, controlled by a Blynk phone app.</a:t>
                      </a:r>
                    </a:p>
                  </a:txBody>
                  <a:tcPr marL="54000" marR="54000" marT="30000" marB="30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/>
                        <a:t>Very small prototype (one sensor, one relay); NodeMCU I/O load is limited; needs backup power; security not studied.</a:t>
                      </a:r>
                    </a:p>
                  </a:txBody>
                  <a:tcPr marL="54000" marR="54000"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3. Information: architecture, devices</a:t>
            </a:r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100" b="1"/>
              <a:t>Five-layer architecture</a:t>
            </a:r>
          </a:p>
          <a:p>
            <a:pPr lvl="1"/>
            <a:r>
              <a:rPr sz="1900" b="0"/>
              <a:t>Perception: sensors and actuators</a:t>
            </a:r>
          </a:p>
          <a:p>
            <a:pPr lvl="1"/>
            <a:r>
              <a:rPr sz="1900" b="0"/>
              <a:t>Network: Wi-Fi, Bluetooth, Zigbee, Z-Wave, Thread</a:t>
            </a:r>
          </a:p>
          <a:p>
            <a:pPr lvl="1"/>
            <a:r>
              <a:rPr sz="1900" b="0"/>
              <a:t>Middleware: gateway or cloud, rules, device management</a:t>
            </a:r>
          </a:p>
          <a:p>
            <a:pPr lvl="1"/>
            <a:r>
              <a:rPr sz="1900" b="0"/>
              <a:t>Application: mobile app, voice assistant, dashboard</a:t>
            </a:r>
          </a:p>
          <a:p>
            <a:pPr lvl="1"/>
            <a:r>
              <a:rPr sz="1900" b="0"/>
              <a:t>Business: energy billing, maintenance services</a:t>
            </a:r>
          </a:p>
          <a:p>
            <a:r>
              <a:rPr sz="2100" b="1"/>
              <a:t>Devices</a:t>
            </a:r>
          </a:p>
          <a:p>
            <a:pPr lvl="1"/>
            <a:r>
              <a:rPr sz="1900" b="0"/>
              <a:t>Sensors: temperature, motion, door, smoke, water leak</a:t>
            </a:r>
          </a:p>
          <a:p>
            <a:pPr lvl="1"/>
            <a:r>
              <a:rPr sz="1900" b="0"/>
              <a:t>Actuators: bulbs, plugs, locks, thermostats; Controllers: hub, speaker, Raspberry Pi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3. Information: applications, security</a:t>
            </a:r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000" b="1"/>
              <a:t>Applications</a:t>
            </a:r>
          </a:p>
          <a:p>
            <a:pPr lvl="1"/>
            <a:r>
              <a:rPr sz="1800" b="0"/>
              <a:t>Lighting and comfort: schedules, motion lights, voice control</a:t>
            </a:r>
          </a:p>
          <a:p>
            <a:pPr lvl="1"/>
            <a:r>
              <a:rPr sz="1800" b="0"/>
              <a:t>Security: locks, cameras, door sensors, phone alerts</a:t>
            </a:r>
          </a:p>
          <a:p>
            <a:pPr lvl="1"/>
            <a:r>
              <a:rPr sz="1800" b="0"/>
              <a:t>Energy: smart plugs, thermostats (10 to 23 percent saving reported for learning thermostats)</a:t>
            </a:r>
          </a:p>
          <a:p>
            <a:pPr lvl="1"/>
            <a:r>
              <a:rPr sz="1800" b="0"/>
              <a:t>Health: fall detection and activity monitoring for the elderly</a:t>
            </a:r>
          </a:p>
          <a:p>
            <a:r>
              <a:rPr sz="2000" b="1"/>
              <a:t>Security and privacy risks</a:t>
            </a:r>
          </a:p>
          <a:p>
            <a:pPr lvl="1"/>
            <a:r>
              <a:rPr sz="1800" b="0"/>
              <a:t>Buffer overflows (28.25%) and DoS flaws (27.20%) are the most common vulnerabilities</a:t>
            </a:r>
          </a:p>
          <a:p>
            <a:pPr lvl="1"/>
            <a:r>
              <a:rPr sz="1800" b="0"/>
              <a:t>Default passwords still enable botnets such as Mirai</a:t>
            </a:r>
          </a:p>
          <a:p>
            <a:pPr lvl="1"/>
            <a:r>
              <a:rPr sz="1800" b="0"/>
              <a:t>76% of users know the risks; only 24% update firmware regularly</a:t>
            </a:r>
          </a:p>
          <a:p>
            <a:pPr lvl="1"/>
            <a:r>
              <a:rPr sz="1800" b="0"/>
              <a:t>Defence: change passwords, update firmware, separate IoT network, local processing</a:t>
            </a:r>
          </a:p>
        </p:txBody>
      </p:sp>
      <p:sp>
        <p:nvSpPr>
          <p:cNvPr id="540" name="Google Shape;540;p1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4. Advantages / Disadvantages</a:t>
            </a:r>
            <a:endParaRPr/>
          </a:p>
        </p:txBody>
      </p:sp>
      <p:sp>
        <p:nvSpPr>
          <p:cNvPr id="547" name="Google Shape;547;p19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aphicFrame>
        <p:nvGraphicFramePr>
          <p:cNvPr id="548" name="Table 547"/>
          <p:cNvGraphicFramePr>
            <a:graphicFrameLocks noGrp="1"/>
          </p:cNvGraphicFramePr>
          <p:nvPr/>
        </p:nvGraphicFramePr>
        <p:xfrm>
          <a:off x="457200" y="1143000"/>
          <a:ext cx="8229600" cy="36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sz="1900" b="1"/>
                        <a:t>Advantages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1"/>
                        <a:t>Disadvantages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Convenience: one app or voice control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Security risks: default passwords, unpatched firmware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Energy saving through schedules and thermostats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Privacy: usage data reveals when people are home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Safety: smoke, gas and leak alerts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Interoperability gaps between brands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Helps elderly and disabled people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Device and hub cost; vendor support ends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Automation without effort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Depends on internet and power; cloud outages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5. Conclusion</a:t>
            </a:r>
            <a:endParaRPr/>
          </a:p>
        </p:txBody>
      </p:sp>
      <p:sp>
        <p:nvSpPr>
          <p:cNvPr id="553" name="Google Shape;553;p2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500" b="0"/>
              <a:t>IoT makes homes more convenient, safer and more energy efficient</a:t>
            </a:r>
          </a:p>
          <a:p>
            <a:r>
              <a:rPr sz="2500" b="0"/>
              <a:t>Surveys agree: security, privacy and interoperability are the main weaknesses</a:t>
            </a:r>
          </a:p>
          <a:p>
            <a:r>
              <a:rPr sz="2500" b="0"/>
              <a:t>Matter, regular updates and local processing address them</a:t>
            </a:r>
          </a:p>
          <a:p>
            <a:r>
              <a:rPr sz="2500" b="0"/>
              <a:t>A simple local low-cost system is a practical next step (Section 6)</a:t>
            </a:r>
          </a:p>
        </p:txBody>
      </p:sp>
      <p:sp>
        <p:nvSpPr>
          <p:cNvPr id="554" name="Google Shape;554;p20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6. Project Initiation</a:t>
            </a:r>
            <a:endParaRPr/>
          </a:p>
        </p:txBody>
      </p:sp>
      <p:sp>
        <p:nvSpPr>
          <p:cNvPr id="560" name="Google Shape;560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500" b="1"/>
              <a:t>Proposed project: local, low-cost smart home controller</a:t>
            </a:r>
          </a:p>
          <a:p>
            <a:pPr lvl="1"/>
            <a:r>
              <a:rPr sz="2300" b="0"/>
              <a:t>ESP32 sensor and relay nodes report over Wi-Fi using MQTT</a:t>
            </a:r>
          </a:p>
          <a:p>
            <a:pPr lvl="1"/>
            <a:r>
              <a:rPr sz="2300" b="0"/>
              <a:t>One dashboard on a Raspberry Pi; works without the cloud</a:t>
            </a:r>
          </a:p>
          <a:p>
            <a:pPr lvl="1"/>
            <a:r>
              <a:rPr sz="2300" b="0"/>
              <a:t>Covers: problem statement, scope and objectives, stakeholders, execution plan, resources</a:t>
            </a:r>
          </a:p>
        </p:txBody>
      </p:sp>
      <p:sp>
        <p:nvSpPr>
          <p:cNvPr id="561" name="Google Shape;561;p21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US" sz="2800"/>
              <a:t>6.1 Description of problem statement</a:t>
            </a:r>
            <a:endParaRPr sz="3600"/>
          </a:p>
        </p:txBody>
      </p:sp>
      <p:sp>
        <p:nvSpPr>
          <p:cNvPr id="567" name="Google Shape;567;p2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300" b="0"/>
              <a:t>Most commercial smart home devices depend on vendor clouds</a:t>
            </a:r>
          </a:p>
          <a:p>
            <a:r>
              <a:rPr sz="2300" b="0"/>
              <a:t>Default settings are weak and different brands do not work together</a:t>
            </a:r>
          </a:p>
          <a:p>
            <a:r>
              <a:rPr sz="2300" b="0"/>
              <a:t>Home users and students lack a simple, low-cost, private system that is easy to extend</a:t>
            </a:r>
          </a:p>
          <a:p>
            <a:r>
              <a:rPr sz="2300" b="1"/>
              <a:t>Problem: build a local smart home with sensor and relay nodes and one dashboard, without cloud dependency</a:t>
            </a:r>
          </a:p>
        </p:txBody>
      </p:sp>
      <p:sp>
        <p:nvSpPr>
          <p:cNvPr id="568" name="Google Shape;568;p22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sz="2800"/>
              <a:t>6.2 Scope and objectives</a:t>
            </a:r>
            <a:endParaRPr sz="3600"/>
          </a:p>
        </p:txBody>
      </p:sp>
      <p:sp>
        <p:nvSpPr>
          <p:cNvPr id="574" name="Google Shape;574;p2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2000" b="1"/>
              <a:t>Scope</a:t>
            </a:r>
          </a:p>
          <a:p>
            <a:pPr lvl="1"/>
            <a:r>
              <a:rPr sz="1800" b="0"/>
              <a:t>One room or flat; sensing (temperature, humidity, motion, door); control (lights, fan); dashboard and alerts</a:t>
            </a:r>
          </a:p>
          <a:p>
            <a:pPr lvl="1"/>
            <a:r>
              <a:rPr sz="1800" b="0"/>
              <a:t>Out of scope: cameras, voice assistants, cloud services</a:t>
            </a:r>
          </a:p>
          <a:p>
            <a:r>
              <a:rPr sz="2000" b="1"/>
              <a:t>Objectives</a:t>
            </a:r>
          </a:p>
          <a:p>
            <a:pPr lvl="1"/>
            <a:r>
              <a:rPr sz="1800" b="0"/>
              <a:t>Study IoT architecture, protocols and security risks</a:t>
            </a:r>
          </a:p>
          <a:p>
            <a:pPr lvl="1"/>
            <a:r>
              <a:rPr sz="1800" b="0"/>
              <a:t>Build sensor and relay nodes reporting to a local controller</a:t>
            </a:r>
          </a:p>
          <a:p>
            <a:pPr lvl="1"/>
            <a:r>
              <a:rPr sz="1800" b="0"/>
              <a:t>Provide a dashboard and simple automation rules</a:t>
            </a:r>
          </a:p>
          <a:p>
            <a:pPr lvl="1"/>
            <a:r>
              <a:rPr sz="1800" b="0"/>
              <a:t>Apply basic security: new passwords, separate network, updates</a:t>
            </a:r>
          </a:p>
          <a:p>
            <a:pPr lvl="1"/>
            <a:r>
              <a:rPr sz="1800" b="0"/>
              <a:t>Test reliability and response time; document results</a:t>
            </a:r>
          </a:p>
        </p:txBody>
      </p:sp>
      <p:sp>
        <p:nvSpPr>
          <p:cNvPr id="575" name="Google Shape;575;p23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lang="en-US" sz="2800"/>
              <a:t>6.3 Stakeholders</a:t>
            </a:r>
            <a:endParaRPr sz="3600"/>
          </a:p>
        </p:txBody>
      </p:sp>
      <p:sp>
        <p:nvSpPr>
          <p:cNvPr id="582" name="Google Shape;582;p24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583" name="Table 582"/>
          <p:cNvGraphicFramePr>
            <a:graphicFrameLocks noGrp="1"/>
          </p:cNvGraphicFramePr>
          <p:nvPr/>
        </p:nvGraphicFramePr>
        <p:xfrm>
          <a:off x="457200" y="1143000"/>
          <a:ext cx="8229600" cy="296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sz="1900" b="1"/>
                        <a:t>Stakeholder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1"/>
                        <a:t>Role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1"/>
                        <a:t>Interest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Student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Designer and builder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Complete seminar and project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Guide (faculty)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Supervisor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Technical quality, timely progress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Department / HOD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Approver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Course outcomes of SPI - 315003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Home users (family)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End users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Easy control, safety, privacy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2800"/>
              <a:t>6.4 Seminar execution plan</a:t>
            </a:r>
            <a:endParaRPr sz="3200"/>
          </a:p>
        </p:txBody>
      </p:sp>
      <p:sp>
        <p:nvSpPr>
          <p:cNvPr id="589" name="Google Shape;589;p25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590" name="Table 589"/>
          <p:cNvGraphicFramePr>
            <a:graphicFrameLocks noGrp="1"/>
          </p:cNvGraphicFramePr>
          <p:nvPr/>
        </p:nvGraphicFramePr>
        <p:xfrm>
          <a:off x="457200" y="1143000"/>
          <a:ext cx="8229599" cy="186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3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sz="1900" b="1"/>
                        <a:t>Week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1"/>
                        <a:t>Activity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1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Topic selection and literature survey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2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Gap, problem statement and objectives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3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Prepare report and presentation; guide review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1900" b="0"/>
                        <a:t>4</a:t>
                      </a:r>
                    </a:p>
                  </a:txBody>
                  <a:tcPr marL="72000" marR="72000" marT="36000" marB="36000"/>
                </a:tc>
                <a:tc>
                  <a:txBody>
                    <a:bodyPr/>
                    <a:lstStyle/>
                    <a:p>
                      <a:r>
                        <a:rPr sz="1900" b="0"/>
                        <a:t>Deliver seminar and collect feedback</a:t>
                      </a:r>
                    </a:p>
                  </a:txBody>
                  <a:tcPr marL="72000" marR="72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2800"/>
              <a:t>6.5 Platform/ Equipment/ Resources</a:t>
            </a:r>
            <a:endParaRPr sz="3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endParaRPr sz="3200"/>
          </a:p>
        </p:txBody>
      </p:sp>
      <p:sp>
        <p:nvSpPr>
          <p:cNvPr id="596" name="Google Shape;596;p26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720" name="Resource card 1"/>
          <p:cNvSpPr/>
          <p:nvPr/>
        </p:nvSpPr>
        <p:spPr>
          <a:xfrm>
            <a:off x="457200" y="1330000"/>
            <a:ext cx="4000000" cy="230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dk2"/>
                </a:solidFill>
              </a:rPr>
              <a:t>What we need to buy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ESP32 board (a small Wi-Fi brain)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Temperature sensor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Motion sensor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Door sensor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Relay switch (turns a light or fan on and off)</a:t>
            </a:r>
          </a:p>
        </p:txBody>
      </p:sp>
      <p:sp>
        <p:nvSpPr>
          <p:cNvPr id="721" name="Resource card 2"/>
          <p:cNvSpPr/>
          <p:nvPr/>
        </p:nvSpPr>
        <p:spPr>
          <a:xfrm>
            <a:off x="4686800" y="1330000"/>
            <a:ext cx="4000000" cy="230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dk2"/>
                </a:solidFill>
              </a:rPr>
              <a:t>Main controller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Raspberry Pi (a tiny computer) or a laptop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Connected to the home Wi-Fi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Keeps everything running at home</a:t>
            </a:r>
          </a:p>
        </p:txBody>
      </p:sp>
      <p:sp>
        <p:nvSpPr>
          <p:cNvPr id="722" name="Resource card 3"/>
          <p:cNvSpPr/>
          <p:nvPr/>
        </p:nvSpPr>
        <p:spPr>
          <a:xfrm>
            <a:off x="457200" y="3780000"/>
            <a:ext cx="4000000" cy="230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dk2"/>
                </a:solidFill>
              </a:rPr>
              <a:t>Free software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Mosquitto: passes messages between devices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Home Assistant or Node-RED: makes the dashboard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Arduino IDE: to write code for the boards</a:t>
            </a:r>
          </a:p>
        </p:txBody>
      </p:sp>
      <p:sp>
        <p:nvSpPr>
          <p:cNvPr id="723" name="Resource card 4"/>
          <p:cNvSpPr/>
          <p:nvPr/>
        </p:nvSpPr>
        <p:spPr>
          <a:xfrm>
            <a:off x="4686800" y="3780000"/>
            <a:ext cx="4000000" cy="230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dk2"/>
                </a:solidFill>
              </a:rPr>
              <a:t>Small tools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Wires to join the parts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plug-in test board for trying the wiring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small meter to check power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phone to view the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Bibliography</a:t>
            </a:r>
            <a:endParaRPr/>
          </a:p>
        </p:txBody>
      </p:sp>
      <p:sp>
        <p:nvSpPr>
          <p:cNvPr id="602" name="Google Shape;602;p2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sz="1900" b="1"/>
              <a:t>Papers</a:t>
            </a:r>
          </a:p>
          <a:p>
            <a:pPr lvl="1"/>
            <a:r>
              <a:rPr sz="1700" b="0"/>
              <a:t>Ananna &amp; Saifuzzaman, Introduction to IoT (2023)</a:t>
            </a:r>
          </a:p>
          <a:p>
            <a:pPr lvl="1"/>
            <a:r>
              <a:rPr sz="1700" b="0"/>
              <a:t>Stolojescu-Crisan, Crisan, Butunoi, An IoT-Based Smart Home Automation System (2021)</a:t>
            </a:r>
          </a:p>
          <a:p>
            <a:pPr lvl="1"/>
            <a:r>
              <a:rPr sz="1700" b="0"/>
              <a:t>Akter et al., IoT-based Smart Home Monitoring and Automation System Using Android Application (2023)</a:t>
            </a:r>
          </a:p>
          <a:p>
            <a:pPr lvl="1"/>
            <a:r>
              <a:rPr sz="1700" b="0"/>
              <a:t>Sachdeva, Design and Implementation of Wi-Fi based Smart Home Automation System, M.Tech thesis (2018)</a:t>
            </a:r>
          </a:p>
          <a:p>
            <a:r>
              <a:rPr sz="1900" b="1"/>
              <a:t>Websites</a:t>
            </a:r>
          </a:p>
          <a:p>
            <a:pPr lvl="1"/>
            <a:r>
              <a:rPr sz="1700" b="0"/>
              <a:t>Silicon Labs: Matter 1.4 Continues the CSA's Commitment to Unifying the Home</a:t>
            </a:r>
          </a:p>
          <a:p>
            <a:pPr lvl="1"/>
            <a:r>
              <a:rPr sz="1700" b="0"/>
              <a:t>The Matter Standard in 2026: A Status Review (matter-smarthome.de)</a:t>
            </a:r>
          </a:p>
        </p:txBody>
      </p:sp>
      <p:sp>
        <p:nvSpPr>
          <p:cNvPr id="603" name="Google Shape;603;p27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685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Arial"/>
              <a:buNone/>
            </a:pPr>
            <a:r>
              <a:rPr lang="en-US" sz="2800"/>
              <a:t>References</a:t>
            </a:r>
            <a:endParaRPr/>
          </a:p>
        </p:txBody>
      </p:sp>
      <p:sp>
        <p:nvSpPr>
          <p:cNvPr id="609" name="Google Shape;609;p2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b="0"/>
              <a:t>[1] E. N. Ganesh et al., "Implementation of IOT Architecture for SMART HOME using GSM Technology," International Journal of Computer Techniques, vol. 4, issue 1, Jan–Feb 2017.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b="0"/>
              <a:t>[2] Laila Salman et al., "Energy efficient IoT-based smart home," in Proc. IEEE 3rd World Forum on Internet of Things (WF-IoT), 2016.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b="0"/>
              <a:t>[3] Nasir Nazir Khan et al., "IoT-Based Smart Home Implementation Using Cayenne Web Server and Android SDK," International Journal of Advanced Science and Technology, vol. 29, no. 4, pp. 4034–4041, 2020.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b="0"/>
              <a:t>[4] Sung G-M et al., "Internet of Things–based smart home system using a virtualized cloud server and mobile phone app," International Journal of Distributed Sensor Networks, September 2019.</a:t>
            </a:r>
          </a:p>
        </p:txBody>
      </p:sp>
      <p:sp>
        <p:nvSpPr>
          <p:cNvPr id="610" name="Google Shape;610;p28"/>
          <p:cNvSpPr txBox="1">
            <a:spLocks noGrp="1"/>
          </p:cNvSpPr>
          <p:nvPr>
            <p:ph type="sldNum" idx="12"/>
          </p:nvPr>
        </p:nvSpPr>
        <p:spPr>
          <a:xfrm>
            <a:off x="8411428" y="6356350"/>
            <a:ext cx="548700" cy="365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/>
          <p:nvPr/>
        </p:nvSpPr>
        <p:spPr>
          <a:xfrm>
            <a:off x="1447801" y="2810112"/>
            <a:ext cx="6248400" cy="1200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616" name="Google Shape;61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2268</Words>
  <Application>Microsoft Office PowerPoint</Application>
  <PresentationFormat>On-screen Show (4:3)</PresentationFormat>
  <Paragraphs>291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Contents</vt:lpstr>
      <vt:lpstr>Abstract</vt:lpstr>
      <vt:lpstr>1. Introduction</vt:lpstr>
      <vt:lpstr>2. Literature Survey (1/4)</vt:lpstr>
      <vt:lpstr>2. Literature Survey (2/4)</vt:lpstr>
      <vt:lpstr>2. Literature Survey (3/4)</vt:lpstr>
      <vt:lpstr>2. Literature Survey (4/4)</vt:lpstr>
      <vt:lpstr>3. Information: architecture, devices</vt:lpstr>
      <vt:lpstr>3. Information: applications, security</vt:lpstr>
      <vt:lpstr>4. Advantages / Disadvantages</vt:lpstr>
      <vt:lpstr>5. Conclusion</vt:lpstr>
      <vt:lpstr>6. Project Initiation</vt:lpstr>
      <vt:lpstr>6.1 Description of problem statement</vt:lpstr>
      <vt:lpstr>6.2 Scope and objectives</vt:lpstr>
      <vt:lpstr>6.3 Stakeholders</vt:lpstr>
      <vt:lpstr>6.4 Seminar execution plan</vt:lpstr>
      <vt:lpstr>6.5 Platform/ Equipment/ Resources </vt:lpstr>
      <vt:lpstr>Bibliography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Ragini Chauhan</cp:lastModifiedBy>
  <cp:revision>4</cp:revision>
  <dcterms:modified xsi:type="dcterms:W3CDTF">2026-10-28T13:04:50Z</dcterms:modified>
</cp:coreProperties>
</file>